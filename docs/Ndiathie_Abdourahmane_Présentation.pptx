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777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abdourahmane-dev.github.io/Abdourahmane-Ndiathie-AfriTalent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85216" y="-450273"/>
            <a:ext cx="5486400" cy="6400800"/>
          </a:xfrm>
          <a:prstGeom prst="rect">
            <a:avLst/>
          </a:prstGeom>
          <a:solidFill>
            <a:srgbClr val="0D1F42"/>
          </a:solidFill>
          <a:ln/>
        </p:spPr>
      </p:sp>
      <p:sp>
        <p:nvSpPr>
          <p:cNvPr id="3" name="Shape 1"/>
          <p:cNvSpPr/>
          <p:nvPr/>
        </p:nvSpPr>
        <p:spPr>
          <a:xfrm>
            <a:off x="4846320" y="-457200"/>
            <a:ext cx="54864" cy="6400800"/>
          </a:xfrm>
          <a:prstGeom prst="rect">
            <a:avLst/>
          </a:prstGeom>
          <a:solidFill>
            <a:srgbClr val="38BDF8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-457200"/>
            <a:ext cx="4572000" cy="6400800"/>
          </a:xfrm>
          <a:prstGeom prst="rect">
            <a:avLst/>
          </a:prstGeom>
          <a:solidFill>
            <a:srgbClr val="050A1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572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084832" y="4572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28847" y="17506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mise en relation entre freelances tech africains et entreprises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450592"/>
            <a:ext cx="219456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633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Abdourahmane Ndiathie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DSBD  ·  ISI  ·  Semestre 2 · 2025–2026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548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800" dirty="0"/>
          </a:p>
        </p:txBody>
      </p:sp>
      <p:sp>
        <p:nvSpPr>
          <p:cNvPr id="12" name="Text 10"/>
          <p:cNvSpPr/>
          <p:nvPr/>
        </p:nvSpPr>
        <p:spPr>
          <a:xfrm>
            <a:off x="6400800" y="1417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HTML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0" y="1828800"/>
            <a:ext cx="73152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965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800" dirty="0"/>
          </a:p>
        </p:txBody>
      </p:sp>
      <p:sp>
        <p:nvSpPr>
          <p:cNvPr id="15" name="Text 13"/>
          <p:cNvSpPr/>
          <p:nvPr/>
        </p:nvSpPr>
        <p:spPr>
          <a:xfrm>
            <a:off x="6400800" y="2834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Git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32320" y="3246120"/>
            <a:ext cx="73152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383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800" dirty="0"/>
          </a:p>
        </p:txBody>
      </p:sp>
      <p:sp>
        <p:nvSpPr>
          <p:cNvPr id="18" name="Text 16"/>
          <p:cNvSpPr/>
          <p:nvPr/>
        </p:nvSpPr>
        <p:spPr>
          <a:xfrm>
            <a:off x="6400800" y="4251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JS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FIL ROUGE — DÉVELOPPEMENT WEB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allez voir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44168" y="1307592"/>
            <a:ext cx="27432" cy="5120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Text 4"/>
          <p:cNvSpPr/>
          <p:nvPr/>
        </p:nvSpPr>
        <p:spPr>
          <a:xfrm>
            <a:off x="1472184" y="12344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344168" y="2057400"/>
            <a:ext cx="27432" cy="5120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Text 7"/>
          <p:cNvSpPr/>
          <p:nvPr/>
        </p:nvSpPr>
        <p:spPr>
          <a:xfrm>
            <a:off x="1472184" y="198424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688336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344168" y="2807208"/>
            <a:ext cx="27432" cy="5120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1472184" y="273405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438144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344168" y="3557016"/>
            <a:ext cx="27432" cy="5120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5" name="Text 13"/>
          <p:cNvSpPr/>
          <p:nvPr/>
        </p:nvSpPr>
        <p:spPr>
          <a:xfrm>
            <a:off x="1472184" y="348386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d'écran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187952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344168" y="4306824"/>
            <a:ext cx="27432" cy="5120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8" name="Text 16"/>
          <p:cNvSpPr/>
          <p:nvPr/>
        </p:nvSpPr>
        <p:spPr>
          <a:xfrm>
            <a:off x="1472184" y="423367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Vanilla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18872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5687568" y="1307592"/>
            <a:ext cx="27432" cy="5120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9"/>
          <p:cNvSpPr/>
          <p:nvPr/>
        </p:nvSpPr>
        <p:spPr>
          <a:xfrm>
            <a:off x="5815584" y="12344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&amp; CSS avancé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93852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5687568" y="2057400"/>
            <a:ext cx="27432" cy="5120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5815584" y="198424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Déploiement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2688336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5687568" y="2807208"/>
            <a:ext cx="27432" cy="5120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7" name="Text 25"/>
          <p:cNvSpPr/>
          <p:nvPr/>
        </p:nvSpPr>
        <p:spPr>
          <a:xfrm>
            <a:off x="5815584" y="273405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438144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5687568" y="3557016"/>
            <a:ext cx="27432" cy="5120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0" name="Text 28"/>
          <p:cNvSpPr/>
          <p:nvPr/>
        </p:nvSpPr>
        <p:spPr>
          <a:xfrm>
            <a:off x="5815584" y="348386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4187952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5687568" y="4306824"/>
            <a:ext cx="27432" cy="5120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3" name="Text 31"/>
          <p:cNvSpPr/>
          <p:nvPr/>
        </p:nvSpPr>
        <p:spPr>
          <a:xfrm>
            <a:off x="5815584" y="423367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8072"/>
          </a:xfrm>
          <a:prstGeom prst="rect">
            <a:avLst/>
          </a:prstGeom>
          <a:solidFill>
            <a:srgbClr val="0D1F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828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38BDF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82880" y="14173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Objectif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2724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547872" y="521208"/>
            <a:ext cx="54864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502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49040" y="822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freelance tech en Afrique est en croissance explosive.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47872" y="1527048"/>
            <a:ext cx="54864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5087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Développeurs et designers cherchent une plateforme fiable.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547872" y="2532888"/>
            <a:ext cx="54864" cy="7315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5146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2834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mise en relation freelances tech &amp; entreprises.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47872" y="3246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PÉDAGOGIQUES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47872" y="3657600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547872" y="36576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35424" y="3657600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535424" y="36576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22976" y="3657600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522976" y="36576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10528" y="3657600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6510528" y="36576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98080" y="3657600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0" y="36576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· Variables CSS · Typographies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719072"/>
            <a:ext cx="1572768" cy="1874520"/>
          </a:xfrm>
          <a:prstGeom prst="roundRect">
            <a:avLst>
              <a:gd name="adj" fmla="val 5814"/>
            </a:avLst>
          </a:prstGeom>
          <a:solidFill>
            <a:srgbClr val="2563EB"/>
          </a:solidFill>
          <a:ln/>
          <a:effectLst>
            <a:outerShdw blurRad="1778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8288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21284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#2563EB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63347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--primary-color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03120" y="1719072"/>
            <a:ext cx="1572768" cy="1874520"/>
          </a:xfrm>
          <a:prstGeom prst="roundRect">
            <a:avLst>
              <a:gd name="adj" fmla="val 5814"/>
            </a:avLst>
          </a:prstGeom>
          <a:solidFill>
            <a:srgbClr val="0F172A"/>
          </a:solidFill>
          <a:ln/>
          <a:effectLst>
            <a:outerShdw blurRad="1778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0" y="18288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21284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#0F172A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63347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--secondary-color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0" y="1719072"/>
            <a:ext cx="1572768" cy="1874520"/>
          </a:xfrm>
          <a:prstGeom prst="roundRect">
            <a:avLst>
              <a:gd name="adj" fmla="val 5814"/>
            </a:avLst>
          </a:prstGeom>
          <a:solidFill>
            <a:srgbClr val="38BDF8"/>
          </a:solidFill>
          <a:ln/>
          <a:effectLst>
            <a:outerShdw blurRad="1778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18288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221284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#38BDF8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263347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--accent-color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77840" y="1719072"/>
            <a:ext cx="1572768" cy="1874520"/>
          </a:xfrm>
          <a:prstGeom prst="roundRect">
            <a:avLst>
              <a:gd name="adj" fmla="val 58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778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18288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77840" y="221284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#F8FAFC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263347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--light-color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0" y="1719072"/>
            <a:ext cx="1572768" cy="1874520"/>
          </a:xfrm>
          <a:prstGeom prst="roundRect">
            <a:avLst>
              <a:gd name="adj" fmla="val 5814"/>
            </a:avLst>
          </a:prstGeom>
          <a:solidFill>
            <a:srgbClr val="020617"/>
          </a:solidFill>
          <a:ln/>
          <a:effectLst>
            <a:outerShdw blurRad="1778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0" y="18288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221284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#020617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263347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--dark-color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767328"/>
            <a:ext cx="5120640" cy="1207008"/>
          </a:xfrm>
          <a:prstGeom prst="roundRect">
            <a:avLst>
              <a:gd name="adj" fmla="val 13636"/>
            </a:avLst>
          </a:prstGeom>
          <a:solidFill>
            <a:srgbClr val="0D1F3C">
              <a:alpha val="8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blurRad="2286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6928" y="3858768"/>
            <a:ext cx="47365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--primary-color: #2563eb;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--secondary-color: #0f172a;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--accent-color: #38bdf8;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--border-radius: 16px;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--transition: 0.3s ease;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50992" y="3767328"/>
            <a:ext cx="3127248" cy="1207008"/>
          </a:xfrm>
          <a:prstGeom prst="roundRect">
            <a:avLst>
              <a:gd name="adj" fmla="val 13636"/>
            </a:avLst>
          </a:prstGeom>
          <a:solidFill>
            <a:srgbClr val="0D1F3C">
              <a:alpha val="8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blurRad="2286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06440" y="3858768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806440" y="431596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H1 / H2  ·  Google Fonts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06440" y="4626864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— corps de texte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des fichiers &amp; pages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719072"/>
            <a:ext cx="3474720" cy="3273552"/>
          </a:xfrm>
          <a:prstGeom prst="roundRect">
            <a:avLst>
              <a:gd name="adj" fmla="val 5028"/>
            </a:avLst>
          </a:prstGeom>
          <a:solidFill>
            <a:srgbClr val="0D1F3C">
              <a:alpha val="8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blurRad="2286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82880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AfriTalent/</a:t>
            </a:r>
            <a:endParaRPr lang="en-US" sz="93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93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freelance.html</a:t>
            </a:r>
            <a:endParaRPr lang="en-US" sz="93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tarif.html</a:t>
            </a:r>
            <a:endParaRPr lang="en-US" sz="93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about.html</a:t>
            </a:r>
            <a:endParaRPr lang="en-US" sz="93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contact.html</a:t>
            </a:r>
            <a:endParaRPr lang="en-US" sz="93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</a:t>
            </a:r>
            <a:endParaRPr lang="en-US" sz="93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style.css</a:t>
            </a:r>
            <a:endParaRPr lang="en-US" sz="93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js/</a:t>
            </a:r>
            <a:endParaRPr lang="en-US" sz="93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main.js</a:t>
            </a:r>
            <a:endParaRPr lang="en-US" sz="93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images/</a:t>
            </a:r>
            <a:endParaRPr lang="en-US" sz="93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93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Ndiathie_Abdourahmane_</a:t>
            </a:r>
            <a:endParaRPr lang="en-US" sz="93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Présentation.pptx</a:t>
            </a:r>
            <a:endParaRPr lang="en-US" sz="93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</a:t>
            </a:r>
            <a:r>
              <a:rPr lang="en-US" sz="930" dirty="0" smtClean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</a:p>
          <a:p>
            <a:pPr>
              <a:lnSpc>
                <a:spcPts val="1500"/>
              </a:lnSpc>
            </a:pPr>
            <a:r>
              <a:rPr lang="en-US" sz="9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</a:t>
            </a:r>
            <a:r>
              <a:rPr lang="en-US" sz="930" dirty="0" err="1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gitignore</a:t>
            </a:r>
            <a:endParaRPr lang="en-US" sz="930" dirty="0">
              <a:solidFill>
                <a:srgbClr val="7DD3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lnSpc>
                <a:spcPts val="1500"/>
              </a:lnSpc>
              <a:buNone/>
            </a:pP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4114800" y="171907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828032" y="1792224"/>
            <a:ext cx="27432" cy="4572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Text 7"/>
          <p:cNvSpPr/>
          <p:nvPr/>
        </p:nvSpPr>
        <p:spPr>
          <a:xfrm>
            <a:off x="4956048" y="1719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56048" y="19933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animé, Bento Grid, témoignages, catégories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0" y="2340864"/>
            <a:ext cx="4645152" cy="18288"/>
          </a:xfrm>
          <a:prstGeom prst="rect">
            <a:avLst/>
          </a:prstGeom>
          <a:solidFill>
            <a:srgbClr val="475569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23774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828032" y="2450592"/>
            <a:ext cx="27432" cy="4572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4956048" y="23774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freelance.html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56048" y="26517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profils, filtres JS dynamiques, modales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0" y="2999232"/>
            <a:ext cx="4645152" cy="18288"/>
          </a:xfrm>
          <a:prstGeom prst="rect">
            <a:avLst/>
          </a:prstGeom>
          <a:solidFill>
            <a:srgbClr val="475569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303580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828032" y="3108960"/>
            <a:ext cx="27432" cy="4572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30358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tarif.html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3101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plans tarifaires, FAQ accordion Bootstrap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0" y="3657600"/>
            <a:ext cx="4645152" cy="18288"/>
          </a:xfrm>
          <a:prstGeom prst="rect">
            <a:avLst/>
          </a:prstGeom>
          <a:solidFill>
            <a:srgbClr val="475569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369417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4828032" y="3767328"/>
            <a:ext cx="27432" cy="4572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4956048" y="369417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about.html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56048" y="39684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Équipe, valeurs, compteurs IntersectionObserver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0" y="4315968"/>
            <a:ext cx="4645152" cy="18288"/>
          </a:xfrm>
          <a:prstGeom prst="rect">
            <a:avLst/>
          </a:prstGeom>
          <a:solidFill>
            <a:srgbClr val="475569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0" y="435254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4828032" y="4425696"/>
            <a:ext cx="27432" cy="4572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9" name="Text 27"/>
          <p:cNvSpPr/>
          <p:nvPr/>
        </p:nvSpPr>
        <p:spPr>
          <a:xfrm>
            <a:off x="4956048" y="43525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contact.html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56048" y="462686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validé JS, coordonnées, Google Maps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CAPTURES D'ÉCRAN — ACCUEIL</a:t>
            </a:r>
            <a:endParaRPr lang="en-US" sz="10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37" y="658368"/>
            <a:ext cx="4178998" cy="3108960"/>
          </a:xfrm>
          <a:prstGeom prst="rect">
            <a:avLst/>
          </a:prstGeom>
        </p:spPr>
      </p:pic>
      <p:pic>
        <p:nvPicPr>
          <p:cNvPr id="4" name="Image 1" descr="/mnt/user-data/uploads/Capture_d_écran_2026-06-14_2248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840480"/>
            <a:ext cx="5120640" cy="1143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60720" y="65836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2 500+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5760720" y="13441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6583680" y="1627632"/>
            <a:ext cx="137160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8" name="Text 4"/>
          <p:cNvSpPr/>
          <p:nvPr/>
        </p:nvSpPr>
        <p:spPr>
          <a:xfrm>
            <a:off x="5760720" y="164592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5760720" y="23317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583680" y="2615184"/>
            <a:ext cx="1371600" cy="182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" name="Text 7"/>
          <p:cNvSpPr/>
          <p:nvPr/>
        </p:nvSpPr>
        <p:spPr>
          <a:xfrm>
            <a:off x="5760720" y="263347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12 000+</a:t>
            </a:r>
            <a:endParaRPr lang="en-US" sz="4200" dirty="0"/>
          </a:p>
        </p:txBody>
      </p:sp>
      <p:sp>
        <p:nvSpPr>
          <p:cNvPr id="12" name="Text 8"/>
          <p:cNvSpPr/>
          <p:nvPr/>
        </p:nvSpPr>
        <p:spPr>
          <a:xfrm>
            <a:off x="5760720" y="3319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réalisées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760720" y="3657600"/>
            <a:ext cx="3017520" cy="320040"/>
          </a:xfrm>
          <a:prstGeom prst="roundRect">
            <a:avLst>
              <a:gd name="adj" fmla="val 17143"/>
            </a:avLst>
          </a:prstGeom>
          <a:solidFill>
            <a:srgbClr val="0D1F3C"/>
          </a:solidFill>
          <a:ln w="12700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852160" y="3657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Dark Mode localStorage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60720" y="4041648"/>
            <a:ext cx="3017520" cy="320040"/>
          </a:xfrm>
          <a:prstGeom prst="roundRect">
            <a:avLst>
              <a:gd name="adj" fmla="val 17143"/>
            </a:avLst>
          </a:prstGeom>
          <a:solidFill>
            <a:srgbClr val="0D1F3C"/>
          </a:solidFill>
          <a:ln w="12700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52160" y="4041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Compteurs IntersectionObserver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760720" y="4425696"/>
            <a:ext cx="3017520" cy="320040"/>
          </a:xfrm>
          <a:prstGeom prst="roundRect">
            <a:avLst>
              <a:gd name="adj" fmla="val 17143"/>
            </a:avLst>
          </a:prstGeom>
          <a:solidFill>
            <a:srgbClr val="0D1F3C"/>
          </a:solidFill>
          <a:ln w="12700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52160" y="442569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Smooth scroll BTT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CAPTURES D'ÉCRAN — AUTRES PAGES</a:t>
            </a:r>
            <a:endParaRPr lang="en-US" sz="1000" dirty="0"/>
          </a:p>
        </p:txBody>
      </p:sp>
      <p:pic>
        <p:nvPicPr>
          <p:cNvPr id="3" name="Image 0" descr="/mnt/user-data/uploads/Capture-free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21792"/>
            <a:ext cx="4297680" cy="2103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0040" y="2404872"/>
            <a:ext cx="4297680" cy="320040"/>
          </a:xfrm>
          <a:prstGeom prst="rect">
            <a:avLst/>
          </a:prstGeom>
          <a:solidFill>
            <a:srgbClr val="050A18">
              <a:alpha val="8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11480" y="24048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 — filtres JS dynamiques</a:t>
            </a:r>
            <a:endParaRPr lang="en-US" sz="950" dirty="0"/>
          </a:p>
        </p:txBody>
      </p:sp>
      <p:pic>
        <p:nvPicPr>
          <p:cNvPr id="6" name="Image 1" descr="/mnt/user-data/uploads/Capture_d_écran_2026-06-14_2309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621792"/>
            <a:ext cx="4023360" cy="1691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00600" y="1993392"/>
            <a:ext cx="4023360" cy="320040"/>
          </a:xfrm>
          <a:prstGeom prst="rect">
            <a:avLst/>
          </a:prstGeom>
          <a:solidFill>
            <a:srgbClr val="050A18">
              <a:alpha val="80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4892040" y="1993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 — 3 plans Bootstrap</a:t>
            </a:r>
            <a:endParaRPr lang="en-US" sz="950" dirty="0"/>
          </a:p>
        </p:txBody>
      </p:sp>
      <p:pic>
        <p:nvPicPr>
          <p:cNvPr id="9" name="Image 2" descr="/mnt/user-data/uploads/Capture_d_écran_2026-06-14_2310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836926"/>
            <a:ext cx="4023360" cy="201853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617720" y="4574909"/>
            <a:ext cx="4023360" cy="320040"/>
          </a:xfrm>
          <a:prstGeom prst="rect">
            <a:avLst/>
          </a:prstGeom>
          <a:solidFill>
            <a:srgbClr val="050A18">
              <a:alpha val="80000"/>
            </a:srgbClr>
          </a:solidFill>
          <a:ln/>
        </p:spPr>
      </p:sp>
      <p:sp>
        <p:nvSpPr>
          <p:cNvPr id="11" name="Text 6"/>
          <p:cNvSpPr/>
          <p:nvPr/>
        </p:nvSpPr>
        <p:spPr>
          <a:xfrm>
            <a:off x="4983480" y="45354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 </a:t>
            </a:r>
            <a:r>
              <a:rPr lang="en-US" sz="950" b="1" dirty="0" smtClean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—&amp; </a:t>
            </a:r>
            <a:r>
              <a:rPr lang="en-US" sz="950" b="1" dirty="0" err="1" smtClean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r>
              <a:rPr lang="en-US" sz="950" b="1" dirty="0" err="1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b="1" dirty="0" err="1" smtClean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</a:t>
            </a:r>
            <a:r>
              <a:rPr lang="en-US" sz="950" b="1" dirty="0" smtClean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pic>
        <p:nvPicPr>
          <p:cNvPr id="12" name="Image 3" descr="/mnt/user-data/uploads/Capture_d_écran_2026-06-14_23113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907792"/>
            <a:ext cx="4297680" cy="202996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20040" y="4617720"/>
            <a:ext cx="4297680" cy="320040"/>
          </a:xfrm>
          <a:prstGeom prst="rect">
            <a:avLst/>
          </a:prstGeom>
          <a:solidFill>
            <a:srgbClr val="050A18">
              <a:alpha val="80000"/>
            </a:srgbClr>
          </a:solidFill>
          <a:ln/>
        </p:spPr>
      </p:sp>
      <p:sp>
        <p:nvSpPr>
          <p:cNvPr id="14" name="Text 8"/>
          <p:cNvSpPr/>
          <p:nvPr/>
        </p:nvSpPr>
        <p:spPr>
          <a:xfrm>
            <a:off x="411480" y="4617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— validation JS formulaire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JAVASCRIPT VANILLA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fonctionnalités implémentées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69264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78992" y="1033272"/>
            <a:ext cx="36576" cy="9509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9692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34440" y="1353312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0D1F3C">
              <a:alpha val="8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blurRad="2286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35024" y="13716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themeToggle.addEventListener('click', () =&gt;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4041648" cy="18288"/>
          </a:xfrm>
          <a:prstGeom prst="rect">
            <a:avLst/>
          </a:prstGeom>
          <a:solidFill>
            <a:srgbClr val="475569">
              <a:alpha val="5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969264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376672" y="1033272"/>
            <a:ext cx="36576" cy="9509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9692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32120" y="1353312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0D1F3C">
              <a:alpha val="8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blurRad="2286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32704" y="13716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startCounters() { ... updateCounter() }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4663440" y="2084832"/>
            <a:ext cx="4041648" cy="18288"/>
          </a:xfrm>
          <a:prstGeom prst="rect">
            <a:avLst/>
          </a:prstGeom>
          <a:solidFill>
            <a:srgbClr val="475569">
              <a:alpha val="5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176272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1078992" y="2240280"/>
            <a:ext cx="36576" cy="9509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2176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dynamiques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234440" y="2560320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0D1F3C">
              <a:alpha val="8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blurRad="2286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35024" y="25786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card.style.display = category === 'all' ? 'flex' : 'none'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365760" y="3291840"/>
            <a:ext cx="4041648" cy="18288"/>
          </a:xfrm>
          <a:prstGeom prst="rect">
            <a:avLst/>
          </a:prstGeom>
          <a:solidFill>
            <a:srgbClr val="475569">
              <a:alpha val="5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2176272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5376672" y="2240280"/>
            <a:ext cx="36576" cy="9509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2176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formulaire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32120" y="2560320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0D1F3C">
              <a:alpha val="8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blurRad="2286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32704" y="25786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emailRegex = /^[^\s@]+@[^\s@]+\.[^\s@]+$/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4663440" y="3291840"/>
            <a:ext cx="4041648" cy="18288"/>
          </a:xfrm>
          <a:prstGeom prst="rect">
            <a:avLst/>
          </a:prstGeom>
          <a:solidFill>
            <a:srgbClr val="475569">
              <a:alpha val="5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38328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29" name="Shape 27"/>
          <p:cNvSpPr/>
          <p:nvPr/>
        </p:nvSpPr>
        <p:spPr>
          <a:xfrm>
            <a:off x="1078992" y="3447288"/>
            <a:ext cx="36576" cy="9509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0" name="Text 28"/>
          <p:cNvSpPr/>
          <p:nvPr/>
        </p:nvSpPr>
        <p:spPr>
          <a:xfrm>
            <a:off x="1234440" y="3383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dynamique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234440" y="3767328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0D1F3C">
              <a:alpha val="8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blurRad="2286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335024" y="37856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(window.scrollY &gt; 50) navbar.classList.add('scrolled')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4663440" y="338328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5376672" y="3447288"/>
            <a:ext cx="36576" cy="9509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5" name="Text 33"/>
          <p:cNvSpPr/>
          <p:nvPr/>
        </p:nvSpPr>
        <p:spPr>
          <a:xfrm>
            <a:off x="5532120" y="3383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en haut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532120" y="3767328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0D1F3C">
              <a:alpha val="8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blurRad="2286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632704" y="37856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window.scrollTo({ top: 0, behavior: 'smooth' })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365760" y="460857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600" dirty="0"/>
          </a:p>
        </p:txBody>
      </p:sp>
      <p:sp>
        <p:nvSpPr>
          <p:cNvPr id="39" name="Shape 37"/>
          <p:cNvSpPr/>
          <p:nvPr/>
        </p:nvSpPr>
        <p:spPr>
          <a:xfrm>
            <a:off x="1078992" y="4645152"/>
            <a:ext cx="36576" cy="4572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0" name="Text 38"/>
          <p:cNvSpPr/>
          <p:nvPr/>
        </p:nvSpPr>
        <p:spPr>
          <a:xfrm>
            <a:off x="1234440" y="460857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Fade-in au scroll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657600" y="4681728"/>
            <a:ext cx="5120640" cy="420624"/>
          </a:xfrm>
          <a:prstGeom prst="roundRect">
            <a:avLst>
              <a:gd name="adj" fmla="val 15217"/>
            </a:avLst>
          </a:prstGeom>
          <a:solidFill>
            <a:srgbClr val="0D1F3C">
              <a:alpha val="8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blurRad="2286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794760" y="47000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fadeObserver.observe(section) // threshold: 0.15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JAVASCRIPT VANILLA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sur mon code — Validation du formulaire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0D1F3C">
              <a:alpha val="8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blurRad="2286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143000"/>
            <a:ext cx="49560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contactForm =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document.getElementById("contactform");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contactForm.addEventListener("submit", (e) =&gt; {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e.preventDefault();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email = document.getElementById("email")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.value.trim();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isValid = true;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emailRegex = /^[^\s@]+@[^\s@]+\.[^\s@]+$/;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(!emailRegex.test(email)) {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emailError.textContent = "Email invalide";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isValid = false;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(message.length &lt; 20) {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messageError.textContent = "20 caractères min.";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isValid = false;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(isValid) {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contactForm.reset();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successMessage.classList.remove("d-none");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  <a:p>
            <a:pPr marL="0" indent="0">
              <a:lnSpc>
                <a:spcPts val="122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97880" y="1005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97880" y="1463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99632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e.preventDefault()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99632" y="17556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empêche l'envoi réel du formulaire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97880" y="22402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99632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 email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99632" y="25328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le format avant validation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97880" y="3017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99632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isValid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9632" y="33101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qui bloque l'envoi si une règle échoue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97880" y="37947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99632" y="3794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classList.remove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9632" y="40873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le message de succès stylisé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80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371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417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6916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+ hamburger mobile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20116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2286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col-12 / col-md-6 / col-lg-4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2606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2880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freelances + plans tarifaires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" y="32004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" y="3474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Témoignages avec contrôles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" y="3794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4069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interactive — tarif.html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" y="43891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" y="4663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freelances détaillés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7772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avancé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141732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5897880" y="1417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97880" y="17647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couleurs, polices, bordures dans :root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468880"/>
            <a:ext cx="4114800" cy="18288"/>
          </a:xfrm>
          <a:prstGeom prst="rect">
            <a:avLst/>
          </a:prstGeom>
          <a:solidFill>
            <a:srgbClr val="475569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256032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5897880" y="2560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97880" y="29077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375px / 768px / 1200px+ media queries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611880"/>
            <a:ext cx="4114800" cy="18288"/>
          </a:xfrm>
          <a:prstGeom prst="rect">
            <a:avLst/>
          </a:prstGeom>
          <a:solidFill>
            <a:srgbClr val="475569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370332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5897880" y="3703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97880" y="40507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asymétrique — cartes variées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4617720"/>
            <a:ext cx="1298448" cy="329184"/>
          </a:xfrm>
          <a:prstGeom prst="roundRect">
            <a:avLst>
              <a:gd name="adj" fmla="val 16667"/>
            </a:avLst>
          </a:prstGeom>
          <a:solidFill>
            <a:srgbClr val="0D1F3C"/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461772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fade-in au scroll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53328" y="4617720"/>
            <a:ext cx="1298448" cy="329184"/>
          </a:xfrm>
          <a:prstGeom prst="roundRect">
            <a:avLst>
              <a:gd name="adj" fmla="val 16667"/>
            </a:avLst>
          </a:prstGeom>
          <a:solidFill>
            <a:srgbClr val="0D1F3C"/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53328" y="461772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via classes JS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43216" y="4617720"/>
            <a:ext cx="1298448" cy="329184"/>
          </a:xfrm>
          <a:prstGeom prst="roundRect">
            <a:avLst>
              <a:gd name="adj" fmla="val 16667"/>
            </a:avLst>
          </a:prstGeom>
          <a:solidFill>
            <a:srgbClr val="0D1F3C"/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43216" y="461772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hover CSS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GITHUB &amp; DÉPLOIEMENT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commits — planning respecté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" y="1426464"/>
            <a:ext cx="27432" cy="182880"/>
          </a:xfrm>
          <a:prstGeom prst="rect">
            <a:avLst/>
          </a:prstGeom>
          <a:solidFill>
            <a:srgbClr val="475569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91440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: création du dépôt, arborescence et structure HTML de base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85216" y="2139696"/>
            <a:ext cx="27432" cy="182880"/>
          </a:xfrm>
          <a:prstGeom prst="rect">
            <a:avLst/>
          </a:prstGeom>
          <a:solidFill>
            <a:srgbClr val="475569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162763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: structure complète des 5 pages avec sections et contenu texte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340864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85216" y="2852928"/>
            <a:ext cx="27432" cy="182880"/>
          </a:xfrm>
          <a:prstGeom prst="rect">
            <a:avLst/>
          </a:prstGeom>
          <a:solidFill>
            <a:srgbClr val="475569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234086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variables, typographie, layout général et styles de base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05409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85216" y="3566160"/>
            <a:ext cx="27432" cy="182880"/>
          </a:xfrm>
          <a:prstGeom prst="rect">
            <a:avLst/>
          </a:prstGeom>
          <a:solidFill>
            <a:srgbClr val="475569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305409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Bento Grid, sections hero et catégories, effets hover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767328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87552" y="376732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responsive design mobile et tablette, media queries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91440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837176" y="1426464"/>
            <a:ext cx="27432" cy="182880"/>
          </a:xfrm>
          <a:prstGeom prst="rect">
            <a:avLst/>
          </a:prstGeom>
          <a:solidFill>
            <a:srgbClr val="475569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239512" y="91440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dark mode avec localStorage, navbar dynamique au scroll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162763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837176" y="2139696"/>
            <a:ext cx="27432" cy="182880"/>
          </a:xfrm>
          <a:prstGeom prst="rect">
            <a:avLst/>
          </a:prstGeom>
          <a:solidFill>
            <a:srgbClr val="475569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239512" y="162763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compteurs animés au scroll et animations fade-in des sections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2340864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837176" y="2852928"/>
            <a:ext cx="27432" cy="182880"/>
          </a:xfrm>
          <a:prstGeom prst="rect">
            <a:avLst/>
          </a:prstGeom>
          <a:solidFill>
            <a:srgbClr val="475569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239512" y="234086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filtrage dynamique des freelances et validation du formulaire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305409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837176" y="3566160"/>
            <a:ext cx="27432" cy="182880"/>
          </a:xfrm>
          <a:prstGeom prst="rect">
            <a:avLst/>
          </a:prstGeom>
          <a:solidFill>
            <a:srgbClr val="475569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239512" y="305409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 : corrections responsive, optimisation et commentaires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17720" y="3767328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239512" y="376732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: GitHub Pages activé, README finalisé et PowerPoint ajouté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57200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0D1F3C"/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626864"/>
            <a:ext cx="237744" cy="23774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877824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devabdourahmane-dev.github.io/Abdourahmane-Ndiathie-AfriTalent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DIFFICULTÉS &amp; SOLUTIONS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obstacles — 4 solutions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" y="100584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Dark Mode ne persistait pas entre les pages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73168" y="1060704"/>
            <a:ext cx="36576" cy="8229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060704"/>
            <a:ext cx="3822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localStorage.getItem() appelé au chargement de chaque page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8394192" cy="18288"/>
          </a:xfrm>
          <a:prstGeom prst="rect">
            <a:avLst/>
          </a:prstGeom>
          <a:solidFill>
            <a:srgbClr val="475569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075688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07568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202996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Bento Grid : cartes inégales sur mobile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73168" y="2084832"/>
            <a:ext cx="36576" cy="8229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084832"/>
            <a:ext cx="3822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Media queries sous 768px → une colonne unique, asymétrie desktop uniquement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62656"/>
            <a:ext cx="8394192" cy="18288"/>
          </a:xfrm>
          <a:prstGeom prst="rect">
            <a:avLst/>
          </a:prstGeom>
          <a:solidFill>
            <a:srgbClr val="475569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3099816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0998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3054096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Compteurs qui se relançaient au re-scroll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73168" y="3108960"/>
            <a:ext cx="36576" cy="8229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108960"/>
            <a:ext cx="3822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Flag 'animated' sur chaque élément observé — déclenché une seule fois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986784"/>
            <a:ext cx="8394192" cy="18288"/>
          </a:xfrm>
          <a:prstGeom prst="rect">
            <a:avLst/>
          </a:prstGeom>
          <a:solidFill>
            <a:srgbClr val="475569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4123944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123944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407822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Messages d'erreur mal positionnés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73168" y="4133088"/>
            <a:ext cx="36576" cy="8229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4133088"/>
            <a:ext cx="38221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Span dédié sous chaque champ, injecté dynamiquement en JS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RESSOURCES &amp; DOCUMENTATION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consultées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0D1F3C"/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32688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13898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developer.mozilla.org  ·  Référence HTML, CSS &amp; JavaScript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206240" cy="18288"/>
          </a:xfrm>
          <a:prstGeom prst="rect">
            <a:avLst/>
          </a:prstGeom>
          <a:solidFill>
            <a:srgbClr val="475569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08483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0D1F3C"/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8483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2029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Docs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2395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getbootstrap.com/docs/5.3  ·  Composants, grille, utilitaires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206240" cy="18288"/>
          </a:xfrm>
          <a:prstGeom prst="rect">
            <a:avLst/>
          </a:prstGeom>
          <a:solidFill>
            <a:srgbClr val="475569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309067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0D1F3C"/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9067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32688" y="3035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Docs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34015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docs.github.com  ·  GitHub Pages, README professionnel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4206240" cy="18288"/>
          </a:xfrm>
          <a:prstGeom prst="rect">
            <a:avLst/>
          </a:prstGeom>
          <a:solidFill>
            <a:srgbClr val="475569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409651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0D1F3C"/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9651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2688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Validator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44074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validator.w3.org  ·  Validation HTML — 0 erreur bloquante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846320"/>
            <a:ext cx="4206240" cy="18288"/>
          </a:xfrm>
          <a:prstGeom prst="rect">
            <a:avLst/>
          </a:prstGeom>
          <a:solidFill>
            <a:srgbClr val="475569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107899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0D1F3C"/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0789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30368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CSS-Tricks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30368" y="13898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css-tricks.com  ·  Guides Flexbox, Grid, CSS avancé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828800"/>
            <a:ext cx="4206240" cy="18288"/>
          </a:xfrm>
          <a:prstGeom prst="rect">
            <a:avLst/>
          </a:prstGeom>
          <a:solidFill>
            <a:srgbClr val="475569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208483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0D1F3C"/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08483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30368" y="2029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Coolors · Awwwards · Dribbble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30368" y="2395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coolors.co · awwwards.com  ·  Palettes &amp; inspiration design 2026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834640"/>
            <a:ext cx="4206240" cy="18288"/>
          </a:xfrm>
          <a:prstGeom prst="rect">
            <a:avLst/>
          </a:prstGeom>
          <a:solidFill>
            <a:srgbClr val="475569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63440" y="309067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0D1F3C"/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09067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30368" y="3035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 / Pexels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30368" y="34015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unsplash.com · pexels.com  ·  Images libres de droits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840480"/>
            <a:ext cx="4206240" cy="18288"/>
          </a:xfrm>
          <a:prstGeom prst="rect">
            <a:avLst/>
          </a:prstGeom>
          <a:solidFill>
            <a:srgbClr val="475569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63440" y="409651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0D1F3C"/>
          </a:solidFill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409651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30368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30368" y="44074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fonts.google.com  ·  Poppins &amp; Inter — typographies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4846320"/>
            <a:ext cx="4206240" cy="18288"/>
          </a:xfrm>
          <a:prstGeom prst="rect">
            <a:avLst/>
          </a:prstGeom>
          <a:solidFill>
            <a:srgbClr val="475569">
              <a:alpha val="45000"/>
            </a:srgbClr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56413" y="4572"/>
            <a:ext cx="9144000" cy="5148072"/>
          </a:xfrm>
          <a:prstGeom prst="rect">
            <a:avLst/>
          </a:prstGeom>
          <a:solidFill>
            <a:srgbClr val="050F24"/>
          </a:solidFill>
          <a:ln/>
        </p:spPr>
      </p:sp>
      <p:sp>
        <p:nvSpPr>
          <p:cNvPr id="3" name="Shape 1"/>
          <p:cNvSpPr/>
          <p:nvPr/>
        </p:nvSpPr>
        <p:spPr>
          <a:xfrm>
            <a:off x="97436" y="4947953"/>
            <a:ext cx="9144000" cy="36576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2143445" y="173661"/>
            <a:ext cx="4448781" cy="5148072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 smtClean="0">
                <a:solidFill>
                  <a:srgbClr val="38BDF8">
                    <a:alpha val="1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</a:t>
            </a:r>
            <a:endParaRPr lang="en-US" sz="14000" dirty="0"/>
          </a:p>
        </p:txBody>
      </p:sp>
      <p:sp>
        <p:nvSpPr>
          <p:cNvPr id="6" name="Text 4"/>
          <p:cNvSpPr/>
          <p:nvPr/>
        </p:nvSpPr>
        <p:spPr>
          <a:xfrm>
            <a:off x="209863" y="10469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49943" y="2702052"/>
            <a:ext cx="6949440" cy="594360"/>
          </a:xfrm>
          <a:prstGeom prst="roundRect">
            <a:avLst>
              <a:gd name="adj" fmla="val 18462"/>
            </a:avLst>
          </a:prstGeom>
          <a:solidFill>
            <a:srgbClr val="0D1F3C">
              <a:alpha val="8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  <a:effectLst>
            <a:outerShdw blurRad="2286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7432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https://</a:t>
            </a: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devabdourahmane-dev.github.io/Abdourahmane-Ndiathie-AfriTalent</a:t>
            </a: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· déployé et accessible en ligne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CONCLUSION &amp; PERSPECTIVES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4462272" cy="45079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0"/>
            <a:ext cx="64008" cy="45079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74980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appris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8745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HTML5 sémantique &amp; accessibilité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" y="23317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CSS Grid &amp; Flexbox avancés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8600" y="27889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Composants Bootstrap 5 personnalisés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8600" y="32461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JavaScript vanilla — DOM, IntersectionObserver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8600" y="3703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Versioning Git — 10 commits réguliers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8600" y="41605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Déploiement GitHub Pages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8600" y="46177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Rédaction d'un README professionnel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0" y="7498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138988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1481328"/>
            <a:ext cx="27432" cy="3200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3898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PHP + base de données réelle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98424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2075688"/>
            <a:ext cx="27432" cy="3200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19842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&amp; connexion utilisateurs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57860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2670048"/>
            <a:ext cx="27432" cy="3200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5786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Orange Money / Wave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17296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3264408"/>
            <a:ext cx="27432" cy="3200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31729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offline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76732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77840" y="3858768"/>
            <a:ext cx="27432" cy="3200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0" y="37673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fr / en / ar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436168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77840" y="4453128"/>
            <a:ext cx="27432" cy="3200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0" y="43616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référencement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20A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Merci.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2926080" y="3063240"/>
            <a:ext cx="329184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Abdourahmane Ndiathie  ·  L1 DSBD  ·  ISI  ·  2025–2026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1138</Words>
  <Application>Microsoft Office PowerPoint</Application>
  <PresentationFormat>Affichage à l'écran (16:9)</PresentationFormat>
  <Paragraphs>327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bmd</cp:lastModifiedBy>
  <cp:revision>6</cp:revision>
  <dcterms:created xsi:type="dcterms:W3CDTF">2026-06-20T12:44:25Z</dcterms:created>
  <dcterms:modified xsi:type="dcterms:W3CDTF">2026-06-20T14:30:29Z</dcterms:modified>
</cp:coreProperties>
</file>